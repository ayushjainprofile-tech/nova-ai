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(Cold Outreach)</c:v>
                </c:pt>
              </c:strCache>
            </c:strRef>
          </c:tx>
          <c:spPr>
            <a:solidFill>
              <a:srgbClr val="A8D8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Prospects Reached</c:v>
                  </c:pt>
                  <c:pt idx="1">
                    <c:v>Engaged</c:v>
                  </c:pt>
                  <c:pt idx="2">
                    <c:v>Qualified</c:v>
                  </c:pt>
                  <c:pt idx="3">
                    <c:v>Converted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320</c:v>
                </c:pt>
                <c:pt idx="2">
                  <c:v>120</c:v>
                </c:pt>
                <c:pt idx="3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ProspectIQ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Prospects Reached</c:v>
                  </c:pt>
                  <c:pt idx="1">
                    <c:v>Engaged</c:v>
                  </c:pt>
                  <c:pt idx="2">
                    <c:v>Qualified</c:v>
                  </c:pt>
                  <c:pt idx="3">
                    <c:v>Converted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</c:v>
                </c:pt>
                <c:pt idx="1">
                  <c:v>680</c:v>
                </c:pt>
                <c:pt idx="2">
                  <c:v>390</c:v>
                </c:pt>
                <c:pt idx="3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6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6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A666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INNOVATE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Integrate. Transform.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82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PS2: Prospect Assist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Prospect Acquisition &amp; Conversion Engine for IDBI Bank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200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56616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0D5C4B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11880"/>
            <a:ext cx="4663440" cy="21488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Team Details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a.  Team Name:  </a:t>
            </a:r>
            <a:pPr indent="0" marL="0">
              <a:buNone/>
            </a:pPr>
            <a:r>
              <a:rPr lang="en-US" sz="1300" dirty="0">
                <a:solidFill>
                  <a:srgbClr val="A8D8D0"/>
                </a:solidFill>
              </a:rPr>
              <a:t>CodeHack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b.  Team Leader: </a:t>
            </a:r>
            <a:pPr indent="0" marL="0">
              <a:buNone/>
            </a:pPr>
            <a:r>
              <a:rPr lang="en-US" sz="1300" dirty="0">
                <a:solidFill>
                  <a:srgbClr val="A8D8D0"/>
                </a:solidFill>
              </a:rPr>
              <a:t>Ayush Jain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c.  Problem Statement: </a:t>
            </a:r>
            <a:pPr indent="0" marL="0">
              <a:buNone/>
            </a:pPr>
            <a:r>
              <a:rPr lang="en-US" sz="1300" dirty="0">
                <a:solidFill>
                  <a:srgbClr val="A8D8D0"/>
                </a:solidFill>
              </a:rPr>
              <a:t>PS2 — Prospect Assist AI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1371600"/>
            <a:ext cx="2560320" cy="2560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Partner: AWS  |  Powered by: H2S  |  Technology Partner: ACC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About the Idea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EF3D7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000"/>
                </a:solidFill>
              </a:rPr>
              <a:t>⚡ The Problem: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IDBI Bank struggles to identify and convert high-potential prospects in a competitive market. Relationship managers spend 70% of time on cold outreach with less than 8% conversion. There is no intelligent system to score, engage, or personalise outreach at scale.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0" y="301752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3127248"/>
            <a:ext cx="694944" cy="6949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40416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449884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agent that engages website &amp; app visitors in real-time, qualifies leads, and books appointments with RMs — 24×7, no human needed.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61688" y="288036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33288" y="3017520"/>
            <a:ext cx="914400" cy="914400"/>
          </a:xfrm>
          <a:prstGeom prst="ellipse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3127248"/>
            <a:ext cx="694944" cy="6949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98848" y="40416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Scoring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44568" y="449884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 every prospect on 15+ parameters (income signals, digital behaviour, intent keywords) — giving RMs a ranked priority list daily.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66176" y="288036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37776" y="3017520"/>
            <a:ext cx="914400" cy="914400"/>
          </a:xfrm>
          <a:prstGeom prst="ellipse">
            <a:avLst/>
          </a:prstGeom>
          <a:solidFill>
            <a:srgbClr val="B87000"/>
          </a:solidFill>
          <a:ln w="12700">
            <a:solidFill>
              <a:srgbClr val="B870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3127248"/>
            <a:ext cx="694944" cy="6949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03336" y="40416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Dashboard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49056" y="449884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shows each RM their top prospects, AI-suggested talking points, product fit score, and next-best action — all in one place.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USP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0D2B2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How ProspectIQ is Different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63D38"/>
          </a:solidFill>
          <a:ln w="6350">
            <a:solidFill>
              <a:srgbClr val="025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Most banks use generic CRM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700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ProspectIQ is trained on IDBI's product portfolio &amp; customer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2918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63D38"/>
          </a:solidFill>
          <a:ln w="6350">
            <a:solidFill>
              <a:srgbClr val="025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37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Cold calling with no intelligence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6758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scores &amp; ranks every lead before RM even picks up the phone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2976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63D38"/>
          </a:solidFill>
          <a:ln w="6350">
            <a:solidFill>
              <a:srgbClr val="025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Chatbots answer FAQs only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6817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ProspectIQ qualifies, nurtures and books — full funnel automation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3035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63D38"/>
          </a:solidFill>
          <a:ln w="6350">
            <a:solidFill>
              <a:srgbClr val="025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349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follow-ups get 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687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nudges via WhatsApp, SMS &amp; email with personalisation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16002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0D2B2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Our Unique Value Propositions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22860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63D38"/>
          </a:solidFill>
          <a:ln w="6350">
            <a:solidFill>
              <a:srgbClr val="B87000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68880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086600" y="2359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Hyper-Personalisation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086600" y="26791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prospect gets a tailored pitch based on their digital footprint &amp; financial profile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46520" y="32918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63D38"/>
          </a:solidFill>
          <a:ln w="6350">
            <a:solidFill>
              <a:srgbClr val="B8700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474720"/>
            <a:ext cx="457200" cy="4572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086600" y="33649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RBI-Compliant AI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086600" y="36850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processing adheres to RBI's data localisation &amp; privacy norms — no third-party data sharing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446520" y="42976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63D38"/>
          </a:solidFill>
          <a:ln w="6350">
            <a:solidFill>
              <a:srgbClr val="B87000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480560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8660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Reach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7086600" y="46908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brain, multiple channels — web, WhatsApp, SMS, IDBI mobile app, branch kiosk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446520" y="53035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63D38"/>
          </a:solidFill>
          <a:ln w="6350">
            <a:solidFill>
              <a:srgbClr val="B87000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548640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086600" y="5376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Conversion Lift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7086600" y="56967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projections show 3× uplift in lead-to-customer conversion vs current cold outreach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of Features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85623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3852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5877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(Web + WhatsApp)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0449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chatbot engages visitors, asks qualifying questions, detects intent and routes hot leads to available RMs in real-time.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16916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856232"/>
            <a:ext cx="640080" cy="640080"/>
          </a:xfrm>
          <a:prstGeom prst="ellipse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938528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5877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Scoring Engine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80560" y="30449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 leads on income proxy, transaction patterns, product interest signals, and past interaction data — refreshed nightly.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75320" y="16916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9912" y="1856232"/>
            <a:ext cx="640080" cy="640080"/>
          </a:xfrm>
          <a:prstGeom prst="ellipse">
            <a:avLst/>
          </a:prstGeom>
          <a:solidFill>
            <a:srgbClr val="B87000"/>
          </a:solidFill>
          <a:ln w="12700">
            <a:solidFill>
              <a:srgbClr val="B870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938528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5877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Priority Dashboard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412480" y="30449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RM sees their top 10 daily prospects, AI-suggested script, best time to call, and product recommendation — with one-click CRM logging.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11480" y="411480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76072" y="4279392"/>
            <a:ext cx="640080" cy="640080"/>
          </a:xfrm>
          <a:prstGeom prst="ellipse">
            <a:avLst/>
          </a:prstGeom>
          <a:solidFill>
            <a:srgbClr val="5A2D82"/>
          </a:solidFill>
          <a:ln w="12700">
            <a:solidFill>
              <a:srgbClr val="5A2D8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361688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" y="50109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2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Nudge Engine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681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follow-up sequences via WhatsApp, SMS, and email — personalised by prospect segment, product and language preference.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43400" y="411480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07992" y="427939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4361688"/>
            <a:ext cx="475488" cy="4754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480560" y="50109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 Layer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480560" y="54681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public data (LinkedIn, MCA, GST portal) + IDBI's internal data to build 360° prospect profiles without external API dependency.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275320" y="411480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39912" y="4279392"/>
            <a:ext cx="640080" cy="640080"/>
          </a:xfrm>
          <a:prstGeom prst="ellipse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361688"/>
            <a:ext cx="475488" cy="4754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12480" y="50109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412480" y="54681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funnel analytics — prospect volume, chatbot engagement rate, lead quality score distribution, RM conversion leaderboard.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 Diagram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331720"/>
            <a:ext cx="2743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70632" y="2231136"/>
            <a:ext cx="10972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1546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324612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IDBI website / app or is sourced from public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80360" y="17373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5351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71800" y="22128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2743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10912" y="2231136"/>
            <a:ext cx="10972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31546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90088" y="324612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initiates conversation, asks qualifying questions, detects intent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17373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B87000"/>
          </a:solidFill>
          <a:ln w="12700">
            <a:solidFill>
              <a:srgbClr val="B87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9379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22128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2331720"/>
            <a:ext cx="2743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51192" y="2231136"/>
            <a:ext cx="10972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1546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30368" y="324612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scores the prospect; 360° profile built from internal + external data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60920" y="17373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5A2D82"/>
          </a:solidFill>
          <a:ln w="12700">
            <a:solidFill>
              <a:srgbClr val="5A2D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3407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52360" y="22128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2331720"/>
            <a:ext cx="2743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91472" y="2231136"/>
            <a:ext cx="10972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60920" y="31546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70648" y="324612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leads auto-assigned to the best-fit RM with AI talking points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01200" y="17373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7435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92640" y="22128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01200" y="31546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710928" y="324612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connects, converts; outcome logged back to retrain the model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8463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E8F8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Feedback Loop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5349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conversion/rejection outcome is fed back to the ML scoring model. Weekly retraining ensures accuracy improves over time — the system gets smarter with every RM interaction.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48463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FEF9E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Compliance Layer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83680" y="5349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chatbot interactions are logged with consent flags. Data flows only within IDBI's private cloud (AWS GovCloud India region). DPDP Act 2023 and RBI IT framework compliant.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1A5E74">
              <a:alpha val="9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105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233172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9631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Chatbot Widget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" y="329184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5643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" y="425196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41655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Mobile App SDK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" y="521208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37667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Dashboard (React)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69164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0D5C4B">
              <a:alpha val="9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8105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BACKEND LAYER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53712" y="233172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49631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 (LLM fine-tuned)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53712" y="329184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45643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Scoring (XGBoost)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53712" y="425196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41655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Routing Engine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53712" y="521208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537667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Gateway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169164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6B3A00">
              <a:alpha val="9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18105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85632" y="233172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249631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Profile DB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85632" y="329184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345643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Core Banking (read-only)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85632" y="425196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441655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 Cache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85632" y="5212080"/>
            <a:ext cx="32735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9640" y="537667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(MLflow)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69080" y="393192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8001000" y="393192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57200" y="6473952"/>
            <a:ext cx="11247120" cy="292608"/>
          </a:xfrm>
          <a:prstGeom prst="roundRect">
            <a:avLst>
              <a:gd name="adj" fmla="val 18750"/>
            </a:avLst>
          </a:prstGeom>
          <a:solidFill>
            <a:srgbClr val="0A3D35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Hosted on AWS GovCloud (Mumbai Region)  |  Private VPC  |  End-to-End Encryption  |  RBI IT Framework Compliant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to be Used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91640"/>
            <a:ext cx="5577840" cy="475488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LLM (Claude Sonnet)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(Model Registry)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691640"/>
            <a:ext cx="5577840" cy="475488"/>
          </a:xfrm>
          <a:prstGeom prst="roundRect">
            <a:avLst>
              <a:gd name="adj" fmla="val 23077"/>
            </a:avLst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2402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(REST API Gateway)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(Prospect DB)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(Session Cache)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(Event Streaming)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420624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4206240"/>
            <a:ext cx="5577840" cy="475488"/>
          </a:xfrm>
          <a:prstGeom prst="roundRect">
            <a:avLst>
              <a:gd name="adj" fmla="val 23077"/>
            </a:avLst>
          </a:prstGeom>
          <a:solidFill>
            <a:srgbClr val="B87000"/>
          </a:solidFill>
          <a:ln w="12700">
            <a:solidFill>
              <a:srgbClr val="B87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(RM Dashboard)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/ Recharts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for Mobile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420624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4206240"/>
            <a:ext cx="5577840" cy="475488"/>
          </a:xfrm>
          <a:prstGeom prst="roundRect">
            <a:avLst>
              <a:gd name="adj" fmla="val 23077"/>
            </a:avLst>
          </a:prstGeom>
          <a:solidFill>
            <a:srgbClr val="5A2D82"/>
          </a:solidFill>
          <a:ln w="12700">
            <a:solidFill>
              <a:srgbClr val="5A2D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7548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GovCloud (Mumbai)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(Serverless)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(Monitoring)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Snapshots / Wireframes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474720" cy="4983480"/>
          </a:xfrm>
          <a:prstGeom prst="roundRect">
            <a:avLst>
              <a:gd name="adj" fmla="val 3158"/>
            </a:avLst>
          </a:prstGeom>
          <a:solidFill>
            <a:srgbClr val="1A2E3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64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Widget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47472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94560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4942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I'm ProspectIQ 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looking for a savings account, loan, or investment?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54480" y="29443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024D5C"/>
          </a:solidFill>
          <a:ln w="12700">
            <a:solidFill>
              <a:srgbClr val="024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9992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 home loan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3694176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4904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Your monthly income range?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54480" y="4443984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024D5C"/>
          </a:solidFill>
          <a:ln w="12700">
            <a:solidFill>
              <a:srgbClr val="024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449884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₹80,000/month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5193792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24865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Great! You qualify for up to ₹65L. Connecting you to an RM now... 📞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6144768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0A1E24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2087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message...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1691640"/>
            <a:ext cx="3474720" cy="4983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80560" y="1764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Priority 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2084832"/>
            <a:ext cx="3474720" cy="18288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2176272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21945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53128" y="25237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Today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550408" y="2176272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21945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96128" y="25237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🔥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693408" y="2176272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E8F4F2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39128" y="21945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₹2.4Cr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39128" y="25237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07408" y="2944368"/>
            <a:ext cx="3255264" cy="804672"/>
          </a:xfrm>
          <a:prstGeom prst="roundRect">
            <a:avLst>
              <a:gd name="adj" fmla="val 9091"/>
            </a:avLst>
          </a:prstGeom>
          <a:solidFill>
            <a:srgbClr val="F9FDFC"/>
          </a:solidFill>
          <a:ln w="6350">
            <a:solidFill>
              <a:srgbClr val="E0EE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62272" y="3017520"/>
            <a:ext cx="438912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62272" y="30266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93776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Kumar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3776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 ₹50L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31272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94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07408" y="3858768"/>
            <a:ext cx="3255264" cy="804672"/>
          </a:xfrm>
          <a:prstGeom prst="roundRect">
            <a:avLst>
              <a:gd name="adj" fmla="val 9091"/>
            </a:avLst>
          </a:prstGeom>
          <a:solidFill>
            <a:srgbClr val="F9FDFC"/>
          </a:solidFill>
          <a:ln w="6350">
            <a:solidFill>
              <a:srgbClr val="E0EE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62272" y="3931920"/>
            <a:ext cx="438912" cy="201168"/>
          </a:xfrm>
          <a:prstGeom prst="roundRect">
            <a:avLst>
              <a:gd name="adj" fmla="val 1818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62272" y="39410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93776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3776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₹5L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40416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87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07408" y="4773168"/>
            <a:ext cx="3255264" cy="804672"/>
          </a:xfrm>
          <a:prstGeom prst="roundRect">
            <a:avLst>
              <a:gd name="adj" fmla="val 9091"/>
            </a:avLst>
          </a:prstGeom>
          <a:solidFill>
            <a:srgbClr val="F9FDFC"/>
          </a:solidFill>
          <a:ln w="6350">
            <a:solidFill>
              <a:srgbClr val="E0EE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62272" y="4846320"/>
            <a:ext cx="438912" cy="201168"/>
          </a:xfrm>
          <a:prstGeom prst="roundRect">
            <a:avLst>
              <a:gd name="adj" fmla="val 1818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62272" y="48554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93776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Mehta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3776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Loan ₹8L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0" y="49560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76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07408" y="5687568"/>
            <a:ext cx="3255264" cy="804672"/>
          </a:xfrm>
          <a:prstGeom prst="roundRect">
            <a:avLst>
              <a:gd name="adj" fmla="val 9091"/>
            </a:avLst>
          </a:prstGeom>
          <a:solidFill>
            <a:srgbClr val="F9FDFC"/>
          </a:solidFill>
          <a:ln w="6350">
            <a:solidFill>
              <a:srgbClr val="E0EE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62272" y="5760720"/>
            <a:ext cx="438912" cy="201168"/>
          </a:xfrm>
          <a:prstGeom prst="roundRect">
            <a:avLst>
              <a:gd name="adj" fmla="val 18182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62272" y="57698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937760" y="5742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Rao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937760" y="6035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Account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0" y="587044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38160" y="1691640"/>
            <a:ext cx="3566160" cy="4983480"/>
          </a:xfrm>
          <a:prstGeom prst="roundRect">
            <a:avLst>
              <a:gd name="adj" fmla="val 3077"/>
            </a:avLst>
          </a:prstGeom>
          <a:solidFill>
            <a:srgbClr val="0A1E24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32104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Score Card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38160" y="2084832"/>
            <a:ext cx="3566160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29600" y="2176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Rajesh Kumar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229600" y="25054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 Prospect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052560" y="2816352"/>
            <a:ext cx="1737360" cy="1737360"/>
          </a:xfrm>
          <a:prstGeom prst="ellipse">
            <a:avLst/>
          </a:prstGeom>
          <a:solidFill>
            <a:srgbClr val="0D5C4B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52560" y="30906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3800" dirty="0"/>
          </a:p>
        </p:txBody>
      </p:sp>
      <p:sp>
        <p:nvSpPr>
          <p:cNvPr id="64" name="Text 62"/>
          <p:cNvSpPr/>
          <p:nvPr/>
        </p:nvSpPr>
        <p:spPr>
          <a:xfrm>
            <a:off x="9052560" y="3584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2753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Signal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14984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275320" y="4983480"/>
            <a:ext cx="3017520" cy="91440"/>
          </a:xfrm>
          <a:prstGeom prst="rect">
            <a:avLst/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75320" y="4983480"/>
            <a:ext cx="286664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75320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Score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0149840" y="5212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275320" y="5486400"/>
            <a:ext cx="3017520" cy="91440"/>
          </a:xfrm>
          <a:prstGeom prst="rect">
            <a:avLst/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75320" y="5486400"/>
            <a:ext cx="2776118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75320" y="5715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Activity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149840" y="5715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275320" y="5989320"/>
            <a:ext cx="3017520" cy="91440"/>
          </a:xfrm>
          <a:prstGeom prst="rect">
            <a:avLst/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75320" y="5989320"/>
            <a:ext cx="2655418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75320" y="6217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Fit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149840" y="6217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8275320" y="6492240"/>
            <a:ext cx="3017520" cy="91440"/>
          </a:xfrm>
          <a:prstGeom prst="rect">
            <a:avLst/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75320" y="6492240"/>
            <a:ext cx="2896819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412480" y="6473952"/>
            <a:ext cx="3017520" cy="274320"/>
          </a:xfrm>
          <a:prstGeom prst="roundRect">
            <a:avLst>
              <a:gd name="adj" fmla="val 26667"/>
            </a:avLst>
          </a:prstGeom>
          <a:solidFill>
            <a:srgbClr val="0D5C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12480" y="6492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Assign to RM — Priority 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Performance &amp; Benchmarking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83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272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on 10K synthetic prospects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783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1.2s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42900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1272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API latency on LLM inference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783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7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3.1×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(Pilot)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1272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cold outreach baseline (8% → 25%)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89720" y="1691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81160" y="1783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A2D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28116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 Test)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81160" y="31272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concurrent users, 30 min stress test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Conversion Funnel (Projected vs. Current)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4160520"/>
          <a:ext cx="68580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758952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Benchmark Results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4160520"/>
          <a:ext cx="4297680" cy="25146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NPS (simulated)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82/100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 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p95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 /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 prospects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Query Time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45ms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Implementation Cost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3657600" cy="4389120"/>
          </a:xfrm>
          <a:prstGeom prst="roundRect">
            <a:avLst>
              <a:gd name="adj" fmla="val 3000"/>
            </a:avLst>
          </a:prstGeom>
          <a:solidFill>
            <a:srgbClr val="0D2B2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(3 months)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633472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+ Basic Scoring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Dashboard (React, read-only)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 Setup (Dev environment)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3383280" cy="27432"/>
          </a:xfrm>
          <a:prstGeom prst="rect">
            <a:avLst/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7365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₹18–22 Lakhs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1691640"/>
            <a:ext cx="3657600" cy="4389120"/>
          </a:xfrm>
          <a:prstGeom prst="roundRect">
            <a:avLst>
              <a:gd name="adj" fmla="val 3000"/>
            </a:avLst>
          </a:prstGeom>
          <a:solidFill>
            <a:srgbClr val="0D2B2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0848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(3 months)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07992" y="2633472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nudge engine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+ model retraining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4663440"/>
            <a:ext cx="3383280" cy="27432"/>
          </a:xfrm>
          <a:prstGeom prst="rect">
            <a:avLst/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47365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₹12–15 Lakhs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48056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75320" y="1691640"/>
            <a:ext cx="3657600" cy="4389120"/>
          </a:xfrm>
          <a:prstGeom prst="roundRect">
            <a:avLst>
              <a:gd name="adj" fmla="val 3000"/>
            </a:avLst>
          </a:prstGeom>
          <a:solidFill>
            <a:srgbClr val="0D2B27"/>
          </a:solidFill>
          <a:ln w="12700">
            <a:solidFill>
              <a:srgbClr val="5A2D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20848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(6 months)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39912" y="2633472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bank-wide rollout (all branches)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integration (read-only)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&amp; reporting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4663440"/>
            <a:ext cx="3383280" cy="27432"/>
          </a:xfrm>
          <a:prstGeom prst="rect">
            <a:avLst/>
          </a:prstGeom>
          <a:solidFill>
            <a:srgbClr val="163D38"/>
          </a:solidFill>
          <a:ln w="12700">
            <a:solidFill>
              <a:srgbClr val="163D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7365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₹25–30 Lakhs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41248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6400800"/>
            <a:ext cx="11247120" cy="347472"/>
          </a:xfrm>
          <a:prstGeom prst="roundRect">
            <a:avLst>
              <a:gd name="adj" fmla="val 21053"/>
            </a:avLst>
          </a:prstGeom>
          <a:solidFill>
            <a:srgbClr val="163D3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4465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12-Month Investment: ₹55–67 Lakhs  |  Estimated ROI: 8–12× within 24 months based on conversion uplift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Details &amp; Future Development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1719072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2103120"/>
            <a:ext cx="11887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33472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Launch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" y="3218688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+ Scoring v1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Dashboard beta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pilot: 50 RMs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719072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28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2103120"/>
            <a:ext cx="11887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633472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Scale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02152" y="3218688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branch pilot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feedback loop live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1719072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828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01000" y="2103120"/>
            <a:ext cx="11887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633472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Bank-Wide Rollout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28232" y="3218688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IDBI branches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read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chatbot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49840" y="1719072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1828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89720" y="2633472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0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— Generative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54312" y="3218688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RM assistant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chatbot (IVR)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product push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010912"/>
            <a:ext cx="11247120" cy="1645920"/>
          </a:xfrm>
          <a:prstGeom prst="roundRect">
            <a:avLst>
              <a:gd name="adj" fmla="val 6667"/>
            </a:avLst>
          </a:prstGeom>
          <a:solidFill>
            <a:srgbClr val="E8F4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023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Market Impact &amp; Scale Potential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5468112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Bank serves 4.7 Cr+ customers with 1,900+ branches across India.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ProspectIQ targets 200K+ new prospect interactions/month at scale.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25% conversion (vs 8% today), that's an estimated </a:t>
            </a:r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₹800–1,200 Cr incremental loan disbursement per quarter.</a:t>
            </a:r>
            <a:pPr indent="0" marL="0">
              <a:buNone/>
            </a:pPr>
            <a:r>
              <a:rPr lang="en-US" sz="110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Long-term: exportable as a FinTech SaaS to other PSU banks.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ProspectIQ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C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Links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1247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39112"/>
            <a:ext cx="868680" cy="868680"/>
          </a:xfrm>
          <a:prstGeom prst="ellipse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57984"/>
            <a:ext cx="630936" cy="63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9019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Public Repository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2313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https://github.com/codehack/prospectiq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91640" y="26334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documentation, architecture diagrams, and deployment guide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429000"/>
            <a:ext cx="11247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3730752"/>
            <a:ext cx="868680" cy="8686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849624"/>
            <a:ext cx="630936" cy="6309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3593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(3 Minutes)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91640" y="40050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https://youtu.be/[your-demo-link]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691640" y="4325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walkthrough: chatbot flow → RM dashboard → scoring card → conversion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5120640"/>
            <a:ext cx="11247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5422392"/>
            <a:ext cx="868680" cy="868680"/>
          </a:xfrm>
          <a:prstGeom prst="ellipse">
            <a:avLst/>
          </a:prstGeom>
          <a:solidFill>
            <a:srgbClr val="B87000"/>
          </a:solidFill>
          <a:ln w="12700">
            <a:solidFill>
              <a:srgbClr val="B870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630936" cy="6309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52852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Link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91640" y="56967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https://prospectiq-demo.vercel.app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691640" y="60167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AI chatbot and RM dashboard — hosted on Vercel (AWS backend)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Replace GitHub, video, and product links with your actual URLs before submitting.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5C4B"/>
          </a:solidFill>
          <a:ln w="12700">
            <a:solidFill>
              <a:srgbClr val="0D5C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PS2: Prospect Assist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ProspectIQ — AI-Powered Prospect Acquisition for IDBI Bank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456432"/>
            <a:ext cx="3200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CodeHack</a:t>
            </a:r>
            <a:pPr indent="0" marL="0">
              <a:buNone/>
            </a:pPr>
            <a:r>
              <a:rPr lang="en-US" sz="1600" dirty="0">
                <a:solidFill>
                  <a:srgbClr val="3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Jain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 Vidisha  |  IDBI Innovate 2026 — Build. Integrate. Transform.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1463040"/>
            <a:ext cx="2468880" cy="2468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Partner: AWS  |  Powered by: H2S  |  Technology Partner: ACC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ProspectIQ - IDBI Innovate 2026</dc:title>
  <dc:subject>PptxGenJS Presentation</dc:subject>
  <dc:creator>Ayush Jain | CodeHack</dc:creator>
  <cp:lastModifiedBy>Ayush Jain | CodeHack</cp:lastModifiedBy>
  <cp:revision>1</cp:revision>
  <dcterms:created xsi:type="dcterms:W3CDTF">2026-06-23T09:37:22Z</dcterms:created>
  <dcterms:modified xsi:type="dcterms:W3CDTF">2026-06-23T09:37:22Z</dcterms:modified>
</cp:coreProperties>
</file>